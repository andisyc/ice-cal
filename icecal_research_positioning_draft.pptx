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7786788c4f468e" /><Relationship Type="http://schemas.openxmlformats.org/officeDocument/2006/relationships/extended-properties" Target="/docProps/app.xml" Id="R45a8d303ebc24dca" /><Relationship Type="http://schemas.openxmlformats.org/officeDocument/2006/relationships/officeDocument" Target="/ppt/presentation.xml" Id="R909eb5dd2aac49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9f08df4d9645be"/>
  </p:sldMasterIdLst>
  <p:notesMasterIdLst>
    <p:notesMasterId xmlns:r="http://schemas.openxmlformats.org/officeDocument/2006/relationships" r:id="Rc6d229633e324171"/>
  </p:notesMasterIdLst>
  <p:sldIdLst>
    <p:sldId xmlns:r="http://schemas.openxmlformats.org/officeDocument/2006/relationships" id="256" r:id="Ra8fe2b4b1a9e47f1"/>
    <p:sldId xmlns:r="http://schemas.openxmlformats.org/officeDocument/2006/relationships" id="257" r:id="R4df6691799c84470"/>
    <p:sldId xmlns:r="http://schemas.openxmlformats.org/officeDocument/2006/relationships" id="258" r:id="Ra2299b715d404712"/>
    <p:sldId xmlns:r="http://schemas.openxmlformats.org/officeDocument/2006/relationships" id="259" r:id="R066a31e8a0c94cf9"/>
    <p:sldId xmlns:r="http://schemas.openxmlformats.org/officeDocument/2006/relationships" id="260" r:id="R3fd33a3a83384d1b"/>
    <p:sldId xmlns:r="http://schemas.openxmlformats.org/officeDocument/2006/relationships" id="261" r:id="R24764cf27f0e4ed1"/>
    <p:sldId xmlns:r="http://schemas.openxmlformats.org/officeDocument/2006/relationships" id="262" r:id="R620e802d9e6b458d"/>
    <p:sldId xmlns:r="http://schemas.openxmlformats.org/officeDocument/2006/relationships" id="263" r:id="Rb215a36f193e4d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18ec78f5af40c8" /><Relationship Type="http://schemas.openxmlformats.org/officeDocument/2006/relationships/slideMaster" Target="/ppt/slideMasters/slideMaster1.xml" Id="R749f08df4d9645be" /><Relationship Type="http://schemas.openxmlformats.org/officeDocument/2006/relationships/notesMaster" Target="/ppt/notesMasters/notesMaster1.xml" Id="Rc6d229633e324171" /><Relationship Type="http://schemas.openxmlformats.org/officeDocument/2006/relationships/presProps" Target="/ppt/presProps.xml" Id="R5232dc71df8246a2" /><Relationship Type="http://schemas.openxmlformats.org/officeDocument/2006/relationships/tableStyles" Target="/ppt/tableStyles.xml" Id="R716b858d487a4de6" /><Relationship Type="http://schemas.openxmlformats.org/officeDocument/2006/relationships/slide" Target="/ppt/slides/slide1.xml" Id="Ra8fe2b4b1a9e47f1" /><Relationship Type="http://schemas.openxmlformats.org/officeDocument/2006/relationships/slide" Target="/ppt/slides/slide2.xml" Id="R4df6691799c84470" /><Relationship Type="http://schemas.openxmlformats.org/officeDocument/2006/relationships/slide" Target="/ppt/slides/slide3.xml" Id="Ra2299b715d404712" /><Relationship Type="http://schemas.openxmlformats.org/officeDocument/2006/relationships/slide" Target="/ppt/slides/slide4.xml" Id="R066a31e8a0c94cf9" /><Relationship Type="http://schemas.openxmlformats.org/officeDocument/2006/relationships/slide" Target="/ppt/slides/slide5.xml" Id="R3fd33a3a83384d1b" /><Relationship Type="http://schemas.openxmlformats.org/officeDocument/2006/relationships/slide" Target="/ppt/slides/slide6.xml" Id="R24764cf27f0e4ed1" /><Relationship Type="http://schemas.openxmlformats.org/officeDocument/2006/relationships/slide" Target="/ppt/slides/slide7.xml" Id="R620e802d9e6b458d" /><Relationship Type="http://schemas.openxmlformats.org/officeDocument/2006/relationships/slide" Target="/ppt/slides/slide8.xml" Id="Rb215a36f193e4d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4c2b46d91948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ce051d561b4c56" /><Relationship Type="http://schemas.openxmlformats.org/officeDocument/2006/relationships/notesMaster" Target="/ppt/notesMasters/notesMaster1.xml" Id="R752901b545194f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839d9585ea4677" /><Relationship Type="http://schemas.openxmlformats.org/officeDocument/2006/relationships/notesMaster" Target="/ppt/notesMasters/notesMaster1.xml" Id="R3ab0ca2a709d4f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a3f75ca59a4d3b" /><Relationship Type="http://schemas.openxmlformats.org/officeDocument/2006/relationships/notesMaster" Target="/ppt/notesMasters/notesMaster1.xml" Id="R4327fef62c674f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c88b59c7744394" /><Relationship Type="http://schemas.openxmlformats.org/officeDocument/2006/relationships/notesMaster" Target="/ppt/notesMasters/notesMaster1.xml" Id="R602299a7358d43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8f12a14c6b4be4" /><Relationship Type="http://schemas.openxmlformats.org/officeDocument/2006/relationships/notesMaster" Target="/ppt/notesMasters/notesMaster1.xml" Id="R5b034c0805a24d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e1d10cf1d440b4" /><Relationship Type="http://schemas.openxmlformats.org/officeDocument/2006/relationships/notesMaster" Target="/ppt/notesMasters/notesMaster1.xml" Id="R3b0f343527304c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e22964bbc24116" /><Relationship Type="http://schemas.openxmlformats.org/officeDocument/2006/relationships/notesMaster" Target="/ppt/notesMasters/notesMaster1.xml" Id="R2e1738dd40ac43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abb5eea1f14004" /><Relationship Type="http://schemas.openxmlformats.org/officeDocument/2006/relationships/notesMaster" Target="/ppt/notesMasters/notesMaster1.xml" Id="Ra6583a115ba04d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开场只说一句：ICE-Cal 不重新学习机器人要做什么，只校准它怎样把既定意图做出来。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FADA 将目标域偏移表述为计划意图与真实执行之间的动力学失配。本页只保留这一问题定义。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https://arxiv.org/html/2606.28476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先展示文献覆盖面，再讲 ICE-Cal。横轴不是简单的计算量，而是目标域信息进入策略的方式；纵轴是主要校准位置。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https://arxiv.org/abs/2510.01708</a:t>
            </a:r>
          </a:p>
          <a:p xmlns:a="http://schemas.openxmlformats.org/drawingml/2006/main">
            <a:r>
              <a:t>- https://arxiv.org/abs/2606.30362</a:t>
            </a:r>
          </a:p>
          <a:p xmlns:a="http://schemas.openxmlformats.org/drawingml/2006/main">
            <a:r>
              <a:t>- https://arxiv.org/abs/2506.12769</a:t>
            </a:r>
          </a:p>
          <a:p xmlns:a="http://schemas.openxmlformats.org/drawingml/2006/main">
            <a:r>
              <a:t>- https://arxiv.org/abs/2603.13707</a:t>
            </a:r>
          </a:p>
          <a:p xmlns:a="http://schemas.openxmlformats.org/drawingml/2006/main">
            <a:r>
              <a:t>- https://arxiv.org/abs/2107.04034</a:t>
            </a:r>
          </a:p>
          <a:p xmlns:a="http://schemas.openxmlformats.org/drawingml/2006/main">
            <a:r>
              <a:t>- https://arxiv.org/abs/2606.03297</a:t>
            </a:r>
          </a:p>
          <a:p xmlns:a="http://schemas.openxmlformats.org/drawingml/2006/main">
            <a:r>
              <a:t>- https://arxiv.org/abs/2606.25123</a:t>
            </a:r>
          </a:p>
          <a:p xmlns:a="http://schemas.openxmlformats.org/drawingml/2006/main">
            <a:r>
              <a:t>- https://arxiv.org/abs/2602.16705</a:t>
            </a:r>
          </a:p>
          <a:p xmlns:a="http://schemas.openxmlformats.org/drawingml/2006/main">
            <a:r>
              <a:t>- https://arxiv.org/abs/2604.17335</a:t>
            </a:r>
          </a:p>
          <a:p xmlns:a="http://schemas.openxmlformats.org/drawingml/2006/main">
            <a:r>
              <a:t>- https://arxiv.org/abs/2603.15084</a:t>
            </a:r>
          </a:p>
          <a:p xmlns:a="http://schemas.openxmlformats.org/drawingml/2006/main">
            <a:r>
              <a:t>- https://arxiv.org/abs/2606.29209</a:t>
            </a:r>
          </a:p>
          <a:p xmlns:a="http://schemas.openxmlformats.org/drawingml/2006/main">
            <a:r>
              <a:t>- https://arxiv.org/abs/2606.28476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这页口头只讲两个问题：第一，目标域信息怎样进入方法；第二，它最终改动策略的哪个位置。不要逐篇介绍。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/Users/chengyuxuan/ArtiIntComVis/awesome-humanoid-execution-alignment/papers.csv</a:t>
            </a:r>
          </a:p>
          <a:p xmlns:a="http://schemas.openxmlformats.org/drawingml/2006/main">
            <a:r>
              <a:t>- /Users/chengyuxuan/ArtiIntComVis/awesome-humanoid-execution-alignment/research_chunks/05_failed_rollout_in_context_alignment_claim_matrix.md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/Users/chengyuxuan/ArtiIntComVis/ICE-Cal/note/fada/contracts/active/method/FADA-CONTEXT-METHOD-v006.md</a:t>
            </a:r>
          </a:p>
          <a:p xmlns:a="http://schemas.openxmlformats.org/drawingml/2006/main">
            <a:r>
              <a:t>- /Users/chengyuxuan/ArtiIntComVis/ICE-Cal/note/architecture/concept/09_in_context_execution_calibration_design_inspector.data.json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本页术语是基于现有方法差异提出的候选概念，不宣称已被实验验证。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https://arxiv.org/html/2606.28476</a:t>
            </a:r>
          </a:p>
          <a:p xmlns:a="http://schemas.openxmlformats.org/drawingml/2006/main">
            <a:r>
              <a:t>- https://ashish-kmr.github.io/rma-legged-robots/</a:t>
            </a:r>
          </a:p>
          <a:p xmlns:a="http://schemas.openxmlformats.org/drawingml/2006/main">
            <a:r>
              <a:t>- https://arxiv.org/html/2606.03297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https://arxiv.org/html/2606.28476</a:t>
            </a:r>
          </a:p>
          <a:p xmlns:a="http://schemas.openxmlformats.org/drawingml/2006/main">
            <a:r>
              <a:t>- https://ashish-kmr.github.io/rma-legged-robots/</a:t>
            </a:r>
          </a:p>
          <a:p xmlns:a="http://schemas.openxmlformats.org/drawingml/2006/main">
            <a:r>
              <a:t>- https://arxiv.org/html/2606.03297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结尾不要说 ICE-Cal 已经优于现有工作，只说我们已经找到可证伪、可比较的贡献对象。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dcde333be44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f241949af448b8" /><Relationship Type="http://schemas.openxmlformats.org/officeDocument/2006/relationships/slideLayout" Target="/ppt/slideLayouts/slideLayout1.xml" Id="Rc625d464780144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25d464780144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7629e1c0a4597" /><Relationship Type="http://schemas.openxmlformats.org/officeDocument/2006/relationships/notesSlide" Target="/ppt/notesSlides/notesSlide1.xml" Id="Ref959b1eecdb40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7b7d9f95e4439" /><Relationship Type="http://schemas.openxmlformats.org/officeDocument/2006/relationships/notesSlide" Target="/ppt/notesSlides/notesSlide2.xml" Id="R714a3781108c48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d5b1fda644763" /><Relationship Type="http://schemas.openxmlformats.org/officeDocument/2006/relationships/notesSlide" Target="/ppt/notesSlides/notesSlide3.xml" Id="R917b90edaff348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492c521f84df6" /><Relationship Type="http://schemas.openxmlformats.org/officeDocument/2006/relationships/notesSlide" Target="/ppt/notesSlides/notesSlide4.xml" Id="R7045299ef7c84d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337d08f2b4088" /><Relationship Type="http://schemas.openxmlformats.org/officeDocument/2006/relationships/notesSlide" Target="/ppt/notesSlides/notesSlide5.xml" Id="R52c416d3fc7448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2f643cf914f76" /><Relationship Type="http://schemas.openxmlformats.org/officeDocument/2006/relationships/notesSlide" Target="/ppt/notesSlides/notesSlide6.xml" Id="R5f436a69a22f44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27d5978164fcb" /><Relationship Type="http://schemas.openxmlformats.org/officeDocument/2006/relationships/notesSlide" Target="/ppt/notesSlides/notesSlide7.xml" Id="Rc38e648df8ee49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68b79d5e144cf" /><Relationship Type="http://schemas.openxmlformats.org/officeDocument/2006/relationships/notesSlide" Target="/ppt/notesSlides/notesSlide8.xml" Id="Rdb755422785e47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B45E6-B0A8-4446-93D1-3CCC5D75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RESEARCH POSITIONING / DISCUSSION DRAFT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9AAF0-53AD-494D-B5EF-A49EBB4D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ICE-Cal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9BCF8-D8DC-4B25-9CA4-1C3C6D76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不重新训练，只校准执行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5D536-58DB-4801-A842-097F56BE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676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从一次真实执行，推断下一次执行所需的修正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8C6AC-39BF-448C-BD30-2A5E13E1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90600"/>
            <a:ext cx="2476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C2FE1-F038-4D4E-87F1-B8414F76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0970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179C3-7F86-4497-8B61-FCE27D6C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050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TARGET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ROLLOUT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9525000" y="33147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C3441-4884-4291-900B-31C9E405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6235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E1D37-1580-4EED-831E-C5E7E0FB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577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OPTIMIZER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16664575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24209-42E2-493A-AA2D-32210A6C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 / RESEARCH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51B37-6D2B-4FFE-AF5F-D964387A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真机失败，不一定是“想错了”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D2C8A-90EC-41BB-A0A5-39EF37A7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4EF04-15E9-4C7F-BC1C-B62C2A52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仿真到真机的动力学变化，可能保留任务意图，却改变动作产生的真实响应。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2438400" y="32004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5086350" y="32004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7715250" y="32004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66A5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4659A-FECD-4F66-9236-0F7CFA39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90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02926-EC04-4568-999E-2AA1F861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28900"/>
            <a:ext cx="1600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F069F-6812-45F5-9EEE-07453AFA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28900"/>
            <a:ext cx="1581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07985-8E0B-4A70-98B6-C2605830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DD"/>
          </a:solidFill>
          <a:ln xmlns:a="http://schemas.openxmlformats.org/drawingml/2006/main" w="0">
            <a:solidFill>
              <a:srgbClr val="F8E2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E2BFE-A5E3-4925-AFC6-254D76ED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CD417-BFE3-471C-A38F-BEAAC095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0375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05CCC-1157-49DD-A705-9754D842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03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Intent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592A7-EBD2-413D-8D2A-3F6BBFFF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765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2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Realized Motion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DBFE5-7ECE-4F32-9D02-A190B22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386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目标仍然合理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9BA30-33CA-4C9F-A0D1-E0CA8522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38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执行响应发生偏差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F81A66-C79E-4012-B8EF-EAB2BF2C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F3544-3965-44A6-A68F-24B322BF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021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核心问题：只修正“怎么做出来”，不要重新学习“要做什么”。</a:t>
            </a:r>
          </a:p>
        </p:txBody>
      </p:sp>
    </p:spTree>
    <p:extLst>
      <p:ext uri="{BB962C8B-B14F-4D97-AF65-F5344CB8AC3E}">
        <p14:creationId xmlns:p14="http://schemas.microsoft.com/office/powerpoint/2010/main" val="3461344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49EDE9-4888-4CFB-8BF7-8E1D5A01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 / RESEARCH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96C17-0421-4E9D-AFCA-9434D7F0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现有工作如何适应部署偏差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15DDC-0CD3-425C-B56F-3F47FD76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FC2CA-E5B7-4A73-A3ED-71491F35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不同方法既改变适应方式，也选择不同的校准位置。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2133600" y="5581650"/>
            <a:ext cx="870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2133600" y="2667000"/>
            <a:ext cx="8705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2133600" y="3905250"/>
            <a:ext cx="8705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2133600" y="5048250"/>
            <a:ext cx="8705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>
            <a:off x="4781550" y="2324100"/>
            <a:ext cx="0" cy="3257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9" name=""/>
          <p:cNvCxnSpPr/>
          <p:nvPr/>
        </p:nvCxnSpPr>
        <p:spPr>
          <a:xfrm xmlns:a="http://schemas.openxmlformats.org/drawingml/2006/main">
            <a:off x="7867650" y="2324100"/>
            <a:ext cx="0" cy="3257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CFD8F-3E89-4C09-A389-0D43A118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92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Motion Prior / Planner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AA42C-6151-4919-893B-ACC85C84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719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81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Tracker /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20FF3-9240-43DF-BD90-064DA771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149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6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Execution Mapping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1F9A4-680A-4B2F-A788-1C6D3EE1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53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源侧鲁棒化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CE485-092D-4D91-8D68-C48D8A7C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53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在线反馈 / 推理适应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17457-F4B9-4C6E-8B10-D967E291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53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目标域优化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A4DEF-E7BE-421D-AA4D-03CFC18E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B915C-8DC5-4C7C-80E6-8B5C4756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71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PolySim '25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3A5DB-9277-4634-A767-255B15E0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90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C5335-9D3C-497F-8218-F0CF91B0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33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ReactiveBFM '26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8CC5B-E712-4425-A671-A5E5C3C3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54"/>
          </a:solidFill>
          <a:ln xmlns:a="http://schemas.openxmlformats.org/drawingml/2006/main" w="0">
            <a:solidFill>
              <a:srgbClr val="E66A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5339E-070D-4ED7-92F0-27090F1D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RLPF '25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A495C-040F-4981-9D3C-4602CEA9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54"/>
          </a:solidFill>
          <a:ln xmlns:a="http://schemas.openxmlformats.org/drawingml/2006/main" w="0">
            <a:solidFill>
              <a:srgbClr val="E66A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CECF9-F3CD-4145-B3BE-61B86167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38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REFINE-DP '26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BA584D-D3E0-45E0-9941-70904365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71E4BC-E4B9-4BAB-925E-9EB9632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766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RMA '21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8A7C8-110A-4763-9323-96EA4651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1C6068-8F5E-4B03-9AB3-B9DEF3EF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SplitAdapter '26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4284C9-58FB-4A91-922D-58C43FA9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7862E-FFD9-4324-9D2B-75DB6953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81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RGB '26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0F9B46-878A-4896-9AEE-F082CE7F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9E984B-7480-44A5-BE8F-859646D9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HERO '26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2DD7D1-5405-4B63-A27C-1715DC29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54"/>
          </a:solidFill>
          <a:ln xmlns:a="http://schemas.openxmlformats.org/drawingml/2006/main" w="0">
            <a:solidFill>
              <a:srgbClr val="E66A5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5A01C6-5D86-42A3-8C0A-2F7599E3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76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MG + Tracker '26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F6FD07-39E6-4CBF-A503-466119A6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91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54"/>
          </a:solidFill>
          <a:ln xmlns:a="http://schemas.openxmlformats.org/drawingml/2006/main" w="0">
            <a:solidFill>
              <a:srgbClr val="E66A5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6099DF-C707-4EBC-A226-97E0E685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33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HALO '26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3743D6-E84D-429F-B536-03A151CA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D59E26-66ED-41F6-B1B3-2B6A4328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14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AnyBody '26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7064A7-196B-4B2B-A0B9-C8C7FE1E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54"/>
          </a:solidFill>
          <a:ln xmlns:a="http://schemas.openxmlformats.org/drawingml/2006/main" w="0">
            <a:solidFill>
              <a:srgbClr val="E66A5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8B4636-2731-4A46-B517-5F0376A3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14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FADA '26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A81DA7-5AD4-400A-B1BB-9987FFF1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62500"/>
            <a:ext cx="1562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39772D-469A-47D6-A1CC-1DA4F705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577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ICE-Cal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B064DD-BF85-4F33-B11D-6A46D0B5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7FC81D-3FF6-4C09-90E2-E209FE03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训练时增强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27CA7D-E260-4534-AFF4-EAA1886C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29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A939C9-9C07-44D3-952A-4626E1AC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62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部署时推理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3DC6FE-DABB-40F4-BCA3-94360BA1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229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A54"/>
          </a:solidFill>
          <a:ln xmlns:a="http://schemas.openxmlformats.org/drawingml/2006/main" w="0">
            <a:solidFill>
              <a:srgbClr val="E66A5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EFFACD-C158-4B27-88D1-160DC4BF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62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目标域优化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D10931-4056-4747-B6A3-C15E3FA7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5315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12 篇代表工作；坐标表示主要校准机制，不表示论文只有这一项贡献。</a:t>
            </a:r>
          </a:p>
        </p:txBody>
      </p:sp>
    </p:spTree>
    <p:extLst>
      <p:ext uri="{BB962C8B-B14F-4D97-AF65-F5344CB8AC3E}">
        <p14:creationId xmlns:p14="http://schemas.microsoft.com/office/powerpoint/2010/main" val="289001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92031-9DE9-43E7-8085-6A8A924C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 / RESEARCH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5FABE-4120-43CB-9C45-519064C7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两条文献线，汇合成一个研究问题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3F360-39FE-4F55-BF94-7E9FD9AC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AD243-C944-47ED-AB60-DAD20188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先分别讲清“怎么校准”和“在哪里校准”，最后只保留一个交叉点。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B4848-82C2-4013-B3EC-ACC6B7AB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619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CCBAB-BE4A-4E0E-A130-922AC957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  校准方式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63A17-E0DF-43A1-A5BE-59DBC765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24050"/>
            <a:ext cx="2552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9F34F-B68C-4585-AC0E-5C3411A5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源侧一次训练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B2C38-FCAC-4FA8-909B-AC63A22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DR / PolySim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501015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71FEF-11C9-4A49-A06C-5019FC9B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24050"/>
            <a:ext cx="2552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BA5DA-0866-40BF-9083-725BC14C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部署时推理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0DBDD-E2B2-43CC-BDF2-53DFC7E8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27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RMA · SplitAdapter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ReactiveBFM · RGB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796290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F2F4D-4637-4A8B-BBB9-812BFE59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2552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5837C-B413-4ABE-AB5D-A577401B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目标域再优化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FDAFB-9084-41AD-8B0F-7C44FCEF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FADA · RLPF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REFINE-DP · HALO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54F79-95AB-4D66-929A-98791471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1619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64B02-E5FC-4E97-A988-704F663C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  校准位置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A905D-CB50-4E86-B59D-B5AB47C4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90950"/>
            <a:ext cx="2552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CF8D7-B33F-4A84-9406-D5DF753D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624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9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Planner / Motion Prior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EF6845-6357-4F49-A2C8-A1CD3191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196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ReactiveBFM · RLPF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REFINE-DP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5010150" y="4476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C6712-2DDB-4C00-8792-C47405D8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90950"/>
            <a:ext cx="2552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34B164-3A30-4C88-954E-89626C89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624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Tracker / 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2DC21E-7E23-4E7B-9B1D-24FE9AFE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196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RMA · SplitAdapter · RGB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MG+Tracker · HERO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7962900" y="44767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FF3F9-B060-493C-B6FB-C7D9181E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2552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4FC790-5E1F-4979-B232-6AAAA698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Execution Mapping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B1CDF6-76D6-48F3-A335-7D601B4F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96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FADA · AnyBody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592253-B9A2-412A-95D9-574BA59E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007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6E0D82-2DF7-4A49-99D9-992F57C4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32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ICE-Cal 的候选贡献 = 目标域轨迹证据 × 推理时适应 × 执行层受限校准</a:t>
            </a:r>
          </a:p>
        </p:txBody>
      </p:sp>
    </p:spTree>
    <p:extLst>
      <p:ext uri="{BB962C8B-B14F-4D97-AF65-F5344CB8AC3E}">
        <p14:creationId xmlns:p14="http://schemas.microsoft.com/office/powerpoint/2010/main" val="20849535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A5CE09-EA0E-4395-92CC-891ADC6A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 / RESEARCH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FBEE5-00AA-4940-9968-DF7D762A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一次真实执行，校准下一次执行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2C6F0-146C-4D3A-9E00-F09F6AB0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2686050" y="23050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4191000" y="2305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6191250" y="23050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>
            <a:off x="2495550" y="4095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59" name=""/>
          <p:cNvCxnSpPr/>
          <p:nvPr/>
        </p:nvCxnSpPr>
        <p:spPr>
          <a:xfrm xmlns:a="http://schemas.openxmlformats.org/drawingml/2006/main">
            <a:off x="3810000" y="4095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60" name=""/>
          <p:cNvCxnSpPr/>
          <p:nvPr/>
        </p:nvCxnSpPr>
        <p:spPr>
          <a:xfrm xmlns:a="http://schemas.openxmlformats.org/drawingml/2006/main">
            <a:off x="4953000" y="40957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>
            <a:off x="6572250" y="40957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>
            <a:off x="7620000" y="4095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63" name=""/>
          <p:cNvCxnSpPr/>
          <p:nvPr/>
        </p:nvCxnSpPr>
        <p:spPr>
          <a:xfrm xmlns:a="http://schemas.openxmlformats.org/drawingml/2006/main">
            <a:off x="8305800" y="40957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64" name=""/>
          <p:cNvCxnSpPr/>
          <p:nvPr/>
        </p:nvCxnSpPr>
        <p:spPr>
          <a:xfrm xmlns:a="http://schemas.openxmlformats.org/drawingml/2006/main">
            <a:off x="10001250" y="40957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cxnSp>
        <p:nvCxnSpPr>
          <p:cNvPr id="65" name=""/>
          <p:cNvCxnSpPr/>
          <p:nvPr/>
        </p:nvCxnSpPr>
        <p:spPr>
          <a:xfrm xmlns:a="http://schemas.openxmlformats.org/drawingml/2006/main">
            <a:off x="3352800" y="50482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4953000" y="5048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7" name=""/>
          <p:cNvCxnSpPr/>
          <p:nvPr/>
        </p:nvCxnSpPr>
        <p:spPr>
          <a:xfrm xmlns:a="http://schemas.openxmlformats.org/drawingml/2006/main">
            <a:off x="6096000" y="5048250"/>
            <a:ext cx="1952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8" name=""/>
          <p:cNvCxnSpPr/>
          <p:nvPr/>
        </p:nvCxnSpPr>
        <p:spPr>
          <a:xfrm xmlns:a="http://schemas.openxmlformats.org/drawingml/2006/main">
            <a:off x="8048625" y="40957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3E7CA-326E-41B6-9211-1551212F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第一次 Rollout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11A7F-5A82-4DDD-B553-FFAF21AD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B49BB-5240-4598-8C3E-AECCAA2C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冻结策略 / 未校准执行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A6967-8F14-40DB-BCA8-0656D88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61103-47DB-4E38-96C3-AC6CEF72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4312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A8D9F-A097-411B-9FA6-D1DA9A85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1F65B8-4141-4002-BBC3-2BE217E2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240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2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完整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9AC33E-9B70-4842-8A04-CF75B058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743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84E64-7CCB-41CB-B88E-0404CE91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4312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State + Executed Action + Planner Intent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6B0BB-8093-4E9D-834B-C48EE00A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第二次 Rollout / 每个控制周期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B465CB-2211-45A0-BA9B-B7B01606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21F868-131E-4653-9135-5D993B56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7667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State History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+ Command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2C5FC4-422E-4D40-8E37-7E416422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62375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BB20B7-BEB1-46DF-A452-1FABBAEA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671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Frozen</a:t>
            </a:r>
          </a:p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Planner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C3A255-9A69-4517-B973-D6092661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EE4A57-05DA-4412-A9D5-E5C04C6E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433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Intent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89E457-18EA-4B3F-9A0F-3C410564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6237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0E4D46-495A-4AB9-8FFD-C026CC25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66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Tracker Encoder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+ current histories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934EC6-4AB6-470C-BED5-B2F08863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E71699-89B1-4F7C-A7A3-C26DC75C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433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zₜ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CB58C2-689E-4FEE-B355-2C96CCBC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38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FD6A99-357A-4A2A-9303-A9CCBA2C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862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44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+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4F50E2-747F-4D1B-92B2-FE0CC2C8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62375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E8A0CF-729D-4062-B620-962DBBFD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6715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Frozen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Decoder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7C8793-0CFF-4157-BA2E-A51E617D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62375"/>
            <a:ext cx="933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537FE2-235D-4A3E-8E2A-FA7756EB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33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1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Action[0]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B5434B-05D3-44B0-A1B9-3BD97080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148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E6DE87-BFB8-4309-9270-9D71E372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完整 Support + 当前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State / Action History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1ED689-3F67-4D28-9F49-E8C05E03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14875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34CD73-3D84-42F1-80C3-C3D30423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965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Context</a:t>
            </a:r>
          </a:p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Encoder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311580-8FAE-4C48-AB18-5F693126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14875"/>
            <a:ext cx="76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E63543-8CC0-4631-9681-AA4E3EF9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958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Δzₜ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2F6ABC-97EB-43EA-9F49-6D356DEA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388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C4BD4B-2788-4332-8567-29078421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Planner 决定 Intent；Context 只修正执行 latent；Decoder 仍是唯一 Action 生成器。</a:t>
            </a:r>
          </a:p>
        </p:txBody>
      </p:sp>
    </p:spTree>
    <p:extLst>
      <p:ext uri="{BB962C8B-B14F-4D97-AF65-F5344CB8AC3E}">
        <p14:creationId xmlns:p14="http://schemas.microsoft.com/office/powerpoint/2010/main" val="885727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78904-445C-4FBC-A650-1C324041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 / RESEARCH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F6658-B688-40F8-A029-701CDEE8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科研概念：执行受限的摊销式适应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0964E-242E-47D5-ABC1-0C8E84B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300C5-6CA8-4E15-BBF8-9A9AE73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Execution-Constrained Amortized Adaptation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1A2E5-198C-473B-BCD1-18181CC3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52197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DBF6B-F389-4756-931B-77E1F639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1EC7E-3608-46AB-9289-68DBF9D7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384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摊销适应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896F5-05FC-4335-94AA-D67BE627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38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把每个目标域都要执行的优化，</a:t>
            </a:r>
          </a:p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提前学成 Context 的一次前向推理。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083F8-F9E3-4E7C-815D-051FD1B9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Target rollout  →  Δzₜ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908A3-6C5C-4D5D-B2A1-89ECA438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5334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E2195-B6EB-4229-BE9C-218F5AAA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03065-CD4B-48F4-BFC7-D778203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384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校准权限受限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155FA-DBC3-4E2B-AFBC-FE8A532F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Context 不接管 Planner，</a:t>
            </a:r>
          </a:p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只调整 Intent 到 Action 的实现方式。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F80AE-95D0-4CAA-849D-04126BAD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86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Intent authority stays frozen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C09D5-1061-47AB-8272-7CD88386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B20DD-B70B-40BD-A13B-46417E06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95925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更低部署成本  +  更明确的行为权限</a:t>
            </a:r>
          </a:p>
        </p:txBody>
      </p:sp>
    </p:spTree>
    <p:extLst>
      <p:ext uri="{BB962C8B-B14F-4D97-AF65-F5344CB8AC3E}">
        <p14:creationId xmlns:p14="http://schemas.microsoft.com/office/powerpoint/2010/main" val="1584815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1CC478-4D5D-499A-B1C3-7C576C60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ICE-CAL / RESEARCH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5ECE6-70A3-46A2-99E8-326BCCB1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贡献必须由三组对照共同证明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40A5A-6880-4972-BA27-7F43C86F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461DC-CCF7-4C6A-9E82-5DD21EF0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相同目标域数据预算，相同源策略，只改变适应方式与校准位置。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A009C-ADCC-413A-8122-E17F7E39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3238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E786B-892C-433A-9CCD-47EA8E6F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FADA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819150" y="302895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1695B-BE33-4540-BDEF-639AC281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目标域微调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17FDE-6F0C-4ED3-A81B-C299BEA6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执行模块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D489B-45F8-4C79-A440-6CAE8C04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精度上界 / 优化成本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DB372-F8DD-41BF-8CC4-90E32E9F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90750"/>
            <a:ext cx="3238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F6F7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F61AC-8CA3-4AF5-84BA-F797ACA3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RMA / Split-style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476750" y="302895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71CFC-48D3-43A6-B550-B30524B8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无需更新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67C0A-5B0D-4FEF-A74E-E284EC9D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整体 Policy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2381A1-3F40-4F56-9461-AAFC34D4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291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行为漂移风险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2FB87-A5C7-4EF2-BBF1-CC2C74CA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238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9A4E2-E65B-4FA6-A1C5-66ABBC1C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ICE-Cal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8134350" y="302895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3BE55-258D-4B7B-AE10-9653BC51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无需更新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78231-FD2E-4A2A-8210-A4AE30A9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14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执行 latent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7518B-5903-4333-8A31-5BBD3862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291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效率 + 权限约束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2F36A-37DF-49ED-BCAA-B7BA8189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必须同时回答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F7827-3E8E-4E6B-8B51-667FC8C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57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  精度是否接近 FADA？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E79221-E0D4-403B-86AA-750A161B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57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  是否减少无关行为漂移？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DDA80E-F7C3-4367-9270-88555580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578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1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  是否降低适应时间与状态成本？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49F8B-9116-48A6-A086-DD764128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66A5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66A54"/>
                </a:solidFill>
                <a:latin typeface="PingFang SC"/>
                <a:ea typeface="PingFang SC"/>
                <a:cs typeface="PingFang SC"/>
              </a:rPr>
              <a:t>若只证明“能运行”，而不能回答以上问题，ICE-Cal 的贡献不成立。</a:t>
            </a:r>
          </a:p>
        </p:txBody>
      </p:sp>
    </p:spTree>
    <p:extLst>
      <p:ext uri="{BB962C8B-B14F-4D97-AF65-F5344CB8AC3E}">
        <p14:creationId xmlns:p14="http://schemas.microsoft.com/office/powerpoint/2010/main" val="4253850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D6AD9-EC1B-40F0-A111-98B4ECA3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0ED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0EDFA"/>
                </a:solidFill>
                <a:latin typeface="PingFang SC"/>
                <a:ea typeface="PingFang SC"/>
                <a:cs typeface="PingFang SC"/>
              </a:rPr>
              <a:t>ICE-CAL /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E0773-E94F-4034-8D01-2DB1EC16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不是重新训练机器人。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C20B1-D9A3-4600-8A6E-C57734ED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41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不是让 Context 接管策略。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DAD76-64C5-4957-B2CF-4E662791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D0EDF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D0EDFA"/>
                </a:solidFill>
                <a:latin typeface="PingFang SC"/>
                <a:ea typeface="PingFang SC"/>
                <a:cs typeface="PingFang SC"/>
              </a:rPr>
              <a:t>只修正如何把既定意图做出来。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95300" y="45148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3A3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AC02C-8B75-420B-A952-0069C314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One target rollout  /  Zero optimizer steps  /  Execution layer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311A3-05B7-47FE-B898-EAD466D3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FC3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FC3C7"/>
                </a:solidFill>
                <a:latin typeface="PingFang SC"/>
                <a:ea typeface="PingFang SC"/>
                <a:cs typeface="PingFang SC"/>
              </a:rPr>
              <a:t>候选贡献已清晰；新颖性与有效性仍需对照实验完成。</a:t>
            </a:r>
          </a:p>
        </p:txBody>
      </p:sp>
    </p:spTree>
    <p:extLst>
      <p:ext uri="{BB962C8B-B14F-4D97-AF65-F5344CB8AC3E}">
        <p14:creationId xmlns:p14="http://schemas.microsoft.com/office/powerpoint/2010/main" val="743505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2026-08-15T21:54:49.5140000Z</dcterms:created>
  <dcterms:modified xsi:type="dcterms:W3CDTF">2026-08-15T21:54:49.5140000Z</dcterms:modified>
</coreProperties>
</file>