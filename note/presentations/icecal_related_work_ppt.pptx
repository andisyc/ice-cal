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8" r:id="rId2"/>
    <p:sldId id="256" r:id="rId3"/>
    <p:sldId id="332" r:id="rId4"/>
    <p:sldId id="434" r:id="rId5"/>
    <p:sldId id="446" r:id="rId6"/>
    <p:sldId id="447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13"/>
    <p:restoredTop sz="96301"/>
  </p:normalViewPr>
  <p:slideViewPr>
    <p:cSldViewPr snapToGrid="0">
      <p:cViewPr varScale="1">
        <p:scale>
          <a:sx n="147" d="100"/>
          <a:sy n="147" d="100"/>
        </p:scale>
        <p:origin x="22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F0631-8609-A86F-61CA-F7A2DEF9B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4F6F1D-96EB-B820-97AA-AC316D520B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12B989-E9E6-A6EB-B559-5E32072F51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5BEA1-D4A8-D85D-5484-80F155FA6DE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284646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0BF48-0051-4EF5-ADA6-7B3DAEC4DBAD}" type="datetime1">
              <a:rPr lang="zh-CN" altLang="en-US" smtClean="0"/>
              <a:t>2026/8/22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35EE2-985B-4B4E-9F4E-44985C39245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0431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A5547-8727-D89D-BEBF-3DF399DC4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BD13F32-58B5-3D05-5C5B-D597D81EB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312880"/>
            <a:ext cx="7772400" cy="223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2304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8BECCD27-AF4F-6FB1-5DD0-C0CB9D6C8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420768"/>
            <a:ext cx="7772400" cy="4016463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5D23DD80-BFC8-7607-049E-8B8E72209212}"/>
              </a:ext>
            </a:extLst>
          </p:cNvPr>
          <p:cNvSpPr txBox="1"/>
          <p:nvPr/>
        </p:nvSpPr>
        <p:spPr>
          <a:xfrm>
            <a:off x="-53528" y="1828562"/>
            <a:ext cx="2263328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i="1" dirty="0"/>
              <a:t>H=50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|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123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dim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per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step</a:t>
            </a:r>
          </a:p>
          <a:p>
            <a:pPr algn="ctr"/>
            <a:r>
              <a:rPr lang="en-US" altLang="zh-CN" sz="1400" i="1" dirty="0"/>
              <a:t>108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proprioception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+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15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Task</a:t>
            </a:r>
          </a:p>
          <a:p>
            <a:pPr algn="ctr"/>
            <a:endParaRPr lang="en-US" altLang="zh-CN" sz="1400" i="1" dirty="0"/>
          </a:p>
          <a:p>
            <a:pPr algn="ctr"/>
            <a:r>
              <a:rPr lang="en-US" altLang="zh-CN" sz="1400" i="1" dirty="0"/>
              <a:t>box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local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position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3D</a:t>
            </a:r>
          </a:p>
          <a:p>
            <a:pPr algn="ctr"/>
            <a:r>
              <a:rPr lang="en-US" altLang="zh-CN" sz="1400" i="1" dirty="0"/>
              <a:t>box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local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rotation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6D</a:t>
            </a:r>
          </a:p>
          <a:p>
            <a:pPr algn="ctr"/>
            <a:r>
              <a:rPr lang="en-US" altLang="zh-CN" sz="1400" i="1" dirty="0"/>
              <a:t>box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size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3D</a:t>
            </a:r>
          </a:p>
          <a:p>
            <a:pPr algn="ctr"/>
            <a:r>
              <a:rPr lang="en-US" altLang="zh-CN" sz="1400" i="1" dirty="0"/>
              <a:t>box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target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position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3D</a:t>
            </a:r>
            <a:r>
              <a:rPr lang="zh-CN" altLang="en-US" sz="1400" i="1" dirty="0"/>
              <a:t> </a:t>
            </a:r>
            <a:endParaRPr lang="en-US" altLang="zh-CN" sz="1400" i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69256C5-7866-4050-A2A3-40B2FA8B03EA}"/>
              </a:ext>
            </a:extLst>
          </p:cNvPr>
          <p:cNvSpPr txBox="1"/>
          <p:nvPr/>
        </p:nvSpPr>
        <p:spPr>
          <a:xfrm>
            <a:off x="1677303" y="5540439"/>
            <a:ext cx="161453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i="1" dirty="0"/>
              <a:t>h′ = </a:t>
            </a:r>
            <a:r>
              <a:rPr lang="el-GR" altLang="zh-CN" sz="1400" i="1" dirty="0"/>
              <a:t>γ⊙</a:t>
            </a:r>
            <a:r>
              <a:rPr lang="en-US" altLang="zh-CN" sz="1400" i="1" dirty="0"/>
              <a:t>h + </a:t>
            </a:r>
            <a:r>
              <a:rPr lang="el-GR" altLang="zh-CN" sz="1400" i="1" dirty="0"/>
              <a:t>β</a:t>
            </a:r>
            <a:endParaRPr lang="en-US" altLang="zh-CN" sz="1400" i="1" dirty="0"/>
          </a:p>
          <a:p>
            <a:pPr algn="ctr"/>
            <a:r>
              <a:rPr lang="el-GR" altLang="zh-CN" sz="1400" i="1" dirty="0" err="1"/>
              <a:t>FiLM</a:t>
            </a:r>
            <a:r>
              <a:rPr lang="zh-CN" altLang="el-GR" sz="1400" i="1" dirty="0"/>
              <a:t>输出</a:t>
            </a:r>
            <a:r>
              <a:rPr lang="zh-CN" altLang="en-US" sz="1400" i="1" dirty="0"/>
              <a:t> </a:t>
            </a:r>
            <a:r>
              <a:rPr lang="en-US" altLang="zh-CN" sz="1400" i="1" dirty="0" err="1"/>
              <a:t>γ</a:t>
            </a:r>
            <a:r>
              <a:rPr lang="zh-CN" altLang="en-US" sz="1400" i="1" dirty="0"/>
              <a:t> 和 </a:t>
            </a:r>
            <a:r>
              <a:rPr lang="en-US" altLang="zh-CN" sz="1400" i="1" dirty="0"/>
              <a:t>β</a:t>
            </a:r>
          </a:p>
          <a:p>
            <a:pPr algn="ctr"/>
            <a:r>
              <a:rPr lang="en-US" altLang="zh-CN" sz="1400" i="1" dirty="0"/>
              <a:t>h</a:t>
            </a:r>
            <a:r>
              <a:rPr lang="zh-CN" altLang="en-US" sz="1400" i="1" dirty="0"/>
              <a:t> 是 </a:t>
            </a:r>
            <a:r>
              <a:rPr lang="en-US" altLang="zh-CN" sz="1400" i="1" dirty="0"/>
              <a:t>π</a:t>
            </a:r>
            <a:r>
              <a:rPr lang="zh-CN" altLang="en-US" sz="1400" i="1" dirty="0"/>
              <a:t> 的隐藏层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E7CFD9-5CD9-44AE-723D-1505F0CAF9D5}"/>
              </a:ext>
            </a:extLst>
          </p:cNvPr>
          <p:cNvSpPr txBox="1"/>
          <p:nvPr/>
        </p:nvSpPr>
        <p:spPr>
          <a:xfrm>
            <a:off x="3098075" y="1663902"/>
            <a:ext cx="13607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i="1" dirty="0"/>
              <a:t>Conv1d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+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ELU</a:t>
            </a:r>
          </a:p>
          <a:p>
            <a:pPr algn="ctr"/>
            <a:r>
              <a:rPr lang="en-US" altLang="zh-CN" sz="1400" i="1" dirty="0"/>
              <a:t>50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x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123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-&gt;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320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CE7E2D-9C7F-6FF2-C6C5-FB8EC4848EB3}"/>
              </a:ext>
            </a:extLst>
          </p:cNvPr>
          <p:cNvSpPr txBox="1"/>
          <p:nvPr/>
        </p:nvSpPr>
        <p:spPr>
          <a:xfrm>
            <a:off x="9982200" y="3490554"/>
            <a:ext cx="191530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l-GR" altLang="zh-CN" sz="1400" i="1" dirty="0"/>
              <a:t>Δ</a:t>
            </a:r>
            <a:r>
              <a:rPr lang="en-US" altLang="zh-CN" sz="1400" i="1" dirty="0" err="1"/>
              <a:t>ô^robot</a:t>
            </a:r>
            <a:r>
              <a:rPr lang="en-US" altLang="zh-CN" sz="1400" i="1" dirty="0"/>
              <a:t>_{t+1}</a:t>
            </a:r>
            <a:r>
              <a:rPr lang="zh-CN" altLang="en-US" sz="1400" i="1" dirty="0"/>
              <a:t> 从 </a:t>
            </a:r>
            <a:r>
              <a:rPr lang="en-US" altLang="zh-CN" sz="1400" i="1" dirty="0"/>
              <a:t>t</a:t>
            </a:r>
            <a:r>
              <a:rPr lang="zh-CN" altLang="en-US" sz="1400" i="1" dirty="0"/>
              <a:t> 到 </a:t>
            </a:r>
            <a:r>
              <a:rPr lang="en-US" altLang="zh-CN" sz="1400" i="1" dirty="0"/>
              <a:t>t+1</a:t>
            </a:r>
            <a:r>
              <a:rPr lang="zh-CN" altLang="en-US" sz="1400" i="1" dirty="0"/>
              <a:t> 的物体位姿变化</a:t>
            </a:r>
            <a:endParaRPr lang="en-US" altLang="zh-CN" sz="1400" i="1" dirty="0"/>
          </a:p>
          <a:p>
            <a:pPr algn="ctr"/>
            <a:endParaRPr lang="en-US" altLang="zh-CN" sz="1400" i="1" dirty="0"/>
          </a:p>
          <a:p>
            <a:pPr algn="ctr"/>
            <a:r>
              <a:rPr lang="en" altLang="zh-CN" sz="1400" i="1" dirty="0" err="1"/>
              <a:t>m_eff,t</a:t>
            </a:r>
            <a:r>
              <a:rPr lang="en" altLang="zh-CN" sz="1400" i="1" dirty="0"/>
              <a:t> = ℓ̂_t · </a:t>
            </a:r>
            <a:r>
              <a:rPr lang="en" altLang="zh-CN" sz="1400" i="1" dirty="0" err="1"/>
              <a:t>m̂_t</a:t>
            </a:r>
            <a:r>
              <a:rPr lang="zh-CN" altLang="en" sz="1400" i="1" dirty="0"/>
              <a:t>（</a:t>
            </a:r>
            <a:r>
              <a:rPr lang="zh-CN" altLang="en-US" sz="1400" i="1" dirty="0"/>
              <a:t>载货概率 </a:t>
            </a:r>
            <a:r>
              <a:rPr lang="en-US" altLang="zh-CN" sz="1400" i="1" dirty="0"/>
              <a:t>× </a:t>
            </a:r>
            <a:r>
              <a:rPr lang="zh-CN" altLang="en-US" sz="1400" i="1" dirty="0"/>
              <a:t>质量）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5AB0DD5-F484-65C0-19A5-475028F19449}"/>
              </a:ext>
            </a:extLst>
          </p:cNvPr>
          <p:cNvSpPr txBox="1"/>
          <p:nvPr/>
        </p:nvSpPr>
        <p:spPr>
          <a:xfrm>
            <a:off x="10155149" y="1709963"/>
            <a:ext cx="1540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i="1" dirty="0"/>
              <a:t>预测物体怎么动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10F3915-AF22-08D9-FBD2-683654999B73}"/>
              </a:ext>
            </a:extLst>
          </p:cNvPr>
          <p:cNvSpPr txBox="1"/>
          <p:nvPr/>
        </p:nvSpPr>
        <p:spPr>
          <a:xfrm>
            <a:off x="4333415" y="682104"/>
            <a:ext cx="22611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i="1" dirty="0"/>
              <a:t>Linear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+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ELU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x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2</a:t>
            </a:r>
          </a:p>
          <a:p>
            <a:pPr algn="ctr"/>
            <a:r>
              <a:rPr lang="zh-CN" altLang="en-US" sz="1400" i="1" dirty="0"/>
              <a:t>预测质量</a:t>
            </a:r>
            <a:endParaRPr lang="en-US" altLang="zh-CN" sz="1400" i="1" dirty="0"/>
          </a:p>
          <a:p>
            <a:pPr algn="ctr"/>
            <a:r>
              <a:rPr lang="zh-CN" altLang="en-US" sz="1400" i="1" dirty="0"/>
              <a:t>手中有物体的概率</a:t>
            </a:r>
            <a:endParaRPr lang="en-US" altLang="zh-CN" sz="1400" i="1" dirty="0"/>
          </a:p>
          <a:p>
            <a:pPr algn="ctr"/>
            <a:r>
              <a:rPr lang="en-US" altLang="zh-CN" sz="1400" i="1" dirty="0" err="1"/>
              <a:t>z_obj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16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dim</a:t>
            </a:r>
            <a:endParaRPr lang="zh-CN" altLang="en-US" sz="1400" i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78607E8-8703-A8B2-BD8D-48FE88AE1D01}"/>
              </a:ext>
            </a:extLst>
          </p:cNvPr>
          <p:cNvSpPr txBox="1"/>
          <p:nvPr/>
        </p:nvSpPr>
        <p:spPr>
          <a:xfrm>
            <a:off x="8028480" y="383354"/>
            <a:ext cx="20194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i="1" dirty="0"/>
              <a:t>Split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World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Model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(</a:t>
            </a:r>
            <a:r>
              <a:rPr lang="zh-CN" altLang="en-US" sz="1400" i="1" dirty="0"/>
              <a:t>从</a:t>
            </a:r>
            <a:r>
              <a:rPr lang="en-US" altLang="zh-CN" sz="1400" i="1" dirty="0" err="1"/>
              <a:t>AnyAdapter</a:t>
            </a:r>
            <a:r>
              <a:rPr lang="zh-CN" altLang="en-US" sz="1400" i="1" dirty="0"/>
              <a:t>中改来</a:t>
            </a:r>
            <a:r>
              <a:rPr lang="en-US" altLang="zh-CN" sz="1400" i="1" dirty="0"/>
              <a:t>)</a:t>
            </a:r>
            <a:r>
              <a:rPr lang="zh-CN" altLang="en-US" sz="1400" i="1" dirty="0"/>
              <a:t> 只用于训练两个 </a:t>
            </a:r>
            <a:r>
              <a:rPr lang="en-US" altLang="zh-CN" sz="1400" i="1" dirty="0"/>
              <a:t>Context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Encoder</a:t>
            </a:r>
            <a:r>
              <a:rPr lang="zh-CN" altLang="en-US" sz="1400" i="1" dirty="0"/>
              <a:t>，部署时不需要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6FD3E95-6CDD-E394-20F8-124C4BC2B09C}"/>
              </a:ext>
            </a:extLst>
          </p:cNvPr>
          <p:cNvSpPr txBox="1"/>
          <p:nvPr/>
        </p:nvSpPr>
        <p:spPr>
          <a:xfrm>
            <a:off x="10115166" y="3125735"/>
            <a:ext cx="164937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i="1" dirty="0"/>
              <a:t>预测机器人怎么动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F95CD0-99C0-065E-309B-7C985C05CB6D}"/>
              </a:ext>
            </a:extLst>
          </p:cNvPr>
          <p:cNvSpPr txBox="1"/>
          <p:nvPr/>
        </p:nvSpPr>
        <p:spPr>
          <a:xfrm>
            <a:off x="9982200" y="2017740"/>
            <a:ext cx="18655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l-GR" altLang="zh-CN" sz="1400" i="1" dirty="0"/>
              <a:t>Δ</a:t>
            </a:r>
            <a:r>
              <a:rPr lang="en-US" altLang="zh-CN" sz="1400" i="1" dirty="0" err="1"/>
              <a:t>ô^obj</a:t>
            </a:r>
            <a:r>
              <a:rPr lang="en-US" altLang="zh-CN" sz="1400" i="1" dirty="0"/>
              <a:t>_{t+1}</a:t>
            </a:r>
            <a:r>
              <a:rPr lang="zh-CN" altLang="en-US" sz="1400" i="1" dirty="0"/>
              <a:t> 从 </a:t>
            </a:r>
            <a:r>
              <a:rPr lang="en-US" altLang="zh-CN" sz="1400" i="1" dirty="0"/>
              <a:t>t</a:t>
            </a:r>
            <a:r>
              <a:rPr lang="zh-CN" altLang="en-US" sz="1400" i="1" dirty="0"/>
              <a:t> 到 </a:t>
            </a:r>
            <a:r>
              <a:rPr lang="en-US" altLang="zh-CN" sz="1400" i="1" dirty="0"/>
              <a:t>t+1</a:t>
            </a:r>
            <a:r>
              <a:rPr lang="zh-CN" altLang="en-US" sz="1400" i="1" dirty="0"/>
              <a:t> 的物体位姿变化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57184FA-CA95-4BB8-757F-EB7457E4EBC6}"/>
              </a:ext>
            </a:extLst>
          </p:cNvPr>
          <p:cNvSpPr txBox="1"/>
          <p:nvPr/>
        </p:nvSpPr>
        <p:spPr>
          <a:xfrm>
            <a:off x="9957322" y="4902542"/>
            <a:ext cx="191530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i="1" dirty="0"/>
              <a:t>Gradient Reversal Layer</a:t>
            </a:r>
          </a:p>
          <a:p>
            <a:pPr algn="ctr"/>
            <a:r>
              <a:rPr lang="zh-CN" altLang="en-US" sz="1400" i="1" dirty="0"/>
              <a:t>前向：输出 </a:t>
            </a:r>
            <a:r>
              <a:rPr lang="en-US" altLang="zh-CN" sz="1400" i="1" dirty="0"/>
              <a:t>= </a:t>
            </a:r>
            <a:r>
              <a:rPr lang="zh-CN" altLang="en-US" sz="1400" i="1" dirty="0"/>
              <a:t>输入</a:t>
            </a:r>
          </a:p>
          <a:p>
            <a:pPr algn="ctr"/>
            <a:r>
              <a:rPr lang="zh-CN" altLang="en-US" sz="1400" i="1" dirty="0"/>
              <a:t>反向：梯度 </a:t>
            </a:r>
            <a:r>
              <a:rPr lang="en-US" altLang="zh-CN" sz="1400" i="1" dirty="0"/>
              <a:t>× (−0.1)</a:t>
            </a:r>
            <a:endParaRPr lang="zh-CN" altLang="en-US" sz="1400" i="1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A56EDD3-AAF8-885D-6BE6-BEB36D100279}"/>
              </a:ext>
            </a:extLst>
          </p:cNvPr>
          <p:cNvSpPr txBox="1"/>
          <p:nvPr/>
        </p:nvSpPr>
        <p:spPr>
          <a:xfrm>
            <a:off x="4085223" y="5641206"/>
            <a:ext cx="1614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i="1" dirty="0"/>
              <a:t>前段注入：塑造粗粒度的任务级意图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8E2D6F8-1A55-D887-682B-B967B477BF86}"/>
              </a:ext>
            </a:extLst>
          </p:cNvPr>
          <p:cNvSpPr txBox="1"/>
          <p:nvPr/>
        </p:nvSpPr>
        <p:spPr>
          <a:xfrm>
            <a:off x="6263453" y="5641206"/>
            <a:ext cx="1614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i="1" dirty="0"/>
              <a:t>后段注入：塑造细粒度的动力学补偿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0AF31ED-C073-D533-A148-83D731EF50E5}"/>
              </a:ext>
            </a:extLst>
          </p:cNvPr>
          <p:cNvSpPr txBox="1"/>
          <p:nvPr/>
        </p:nvSpPr>
        <p:spPr>
          <a:xfrm>
            <a:off x="-53528" y="3429000"/>
            <a:ext cx="22633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i="1" dirty="0"/>
              <a:t>privileged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critic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126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D</a:t>
            </a:r>
          </a:p>
          <a:p>
            <a:pPr algn="ctr"/>
            <a:r>
              <a:rPr lang="en-US" altLang="zh-CN" sz="1400" i="1" dirty="0"/>
              <a:t>extra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3D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base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linear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velocity</a:t>
            </a:r>
          </a:p>
        </p:txBody>
      </p:sp>
    </p:spTree>
    <p:extLst>
      <p:ext uri="{BB962C8B-B14F-4D97-AF65-F5344CB8AC3E}">
        <p14:creationId xmlns:p14="http://schemas.microsoft.com/office/powerpoint/2010/main" val="1147281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434E657-A5FF-B2C8-0C2A-8BB072E35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820502"/>
            <a:ext cx="10905066" cy="3216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642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 advClick="0" advTm="0">
        <p14:prism isContent="1"/>
      </p:transition>
    </mc:Choice>
    <mc:Fallback xmlns="">
      <p:transition spd="slow" advClick="0" advTm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32F90-8E15-D9F3-AA5A-9497B5169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9475D00-AA49-A897-D2C0-B4EA41265789}"/>
              </a:ext>
            </a:extLst>
          </p:cNvPr>
          <p:cNvSpPr/>
          <p:nvPr/>
        </p:nvSpPr>
        <p:spPr>
          <a:xfrm>
            <a:off x="5054145" y="33253"/>
            <a:ext cx="211250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765">
              <a:defRPr/>
            </a:pPr>
            <a:r>
              <a:rPr lang="en-US" altLang="zh-CN" sz="2000" b="1" i="1" dirty="0">
                <a:solidFill>
                  <a:prstClr val="black"/>
                </a:solidFill>
              </a:rPr>
              <a:t>Overall Pipeline</a:t>
            </a:r>
            <a:endParaRPr lang="en-US" altLang="zh-CN" sz="2000" b="1" dirty="0">
              <a:solidFill>
                <a:prstClr val="black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D2EC4D3-1753-E1D2-69C1-7DD744730793}"/>
              </a:ext>
            </a:extLst>
          </p:cNvPr>
          <p:cNvSpPr txBox="1"/>
          <p:nvPr/>
        </p:nvSpPr>
        <p:spPr>
          <a:xfrm>
            <a:off x="81456" y="4252175"/>
            <a:ext cx="212834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i="1" dirty="0"/>
              <a:t>2</a:t>
            </a:r>
            <a:r>
              <a:rPr lang="zh-CN" altLang="en-US" sz="1400" i="1" dirty="0"/>
              <a:t>、再训练 </a:t>
            </a:r>
            <a:r>
              <a:rPr lang="en-US" altLang="zh-CN" sz="1400" i="1" dirty="0"/>
              <a:t>Planner:</a:t>
            </a:r>
            <a:r>
              <a:rPr lang="zh-CN" altLang="en-US" sz="1400" i="1" dirty="0"/>
              <a:t> 固定 </a:t>
            </a:r>
            <a:r>
              <a:rPr lang="en-US" altLang="zh-CN" sz="1400" i="1" dirty="0"/>
              <a:t>IDM</a:t>
            </a:r>
            <a:r>
              <a:rPr lang="zh-CN" altLang="en-US" sz="1400" i="1" dirty="0"/>
              <a:t>，使用监督学习更新 </a:t>
            </a:r>
            <a:r>
              <a:rPr lang="en-US" altLang="zh-CN" sz="1400" i="1" dirty="0"/>
              <a:t>Planner</a:t>
            </a:r>
            <a:r>
              <a:rPr lang="zh-CN" altLang="en-US" sz="1400" i="1" dirty="0"/>
              <a:t>，梯度经过 </a:t>
            </a:r>
            <a:r>
              <a:rPr lang="en-US" altLang="zh-CN" sz="1400" i="1" dirty="0"/>
              <a:t>IDM</a:t>
            </a:r>
            <a:endParaRPr lang="zh-CN" altLang="en-US" sz="1400" i="1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B3498BD-3FC2-2A41-7220-0106B19710B6}"/>
              </a:ext>
            </a:extLst>
          </p:cNvPr>
          <p:cNvSpPr txBox="1"/>
          <p:nvPr/>
        </p:nvSpPr>
        <p:spPr>
          <a:xfrm>
            <a:off x="81456" y="2924756"/>
            <a:ext cx="212834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i="1" dirty="0"/>
              <a:t>1</a:t>
            </a:r>
            <a:r>
              <a:rPr lang="zh-CN" altLang="en-US" sz="1400" i="1" dirty="0"/>
              <a:t>、先训练 </a:t>
            </a:r>
            <a:r>
              <a:rPr lang="en-US" altLang="zh-CN" sz="1400" i="1" dirty="0"/>
              <a:t>IDM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(</a:t>
            </a:r>
            <a:r>
              <a:rPr lang="zh-CN" altLang="zh-CN" sz="1400" i="1" dirty="0"/>
              <a:t>Inverse Dynamics Model</a:t>
            </a:r>
            <a:r>
              <a:rPr lang="zh-CN" altLang="en-US" sz="1400" i="1" dirty="0"/>
              <a:t>，</a:t>
            </a:r>
            <a:r>
              <a:rPr lang="en-US" altLang="zh-CN" sz="1400" i="1" dirty="0"/>
              <a:t>Encoder-Decoder</a:t>
            </a:r>
            <a:r>
              <a:rPr lang="zh-CN" altLang="en-US" sz="1400" i="1" dirty="0"/>
              <a:t>架构</a:t>
            </a:r>
            <a:r>
              <a:rPr lang="en-US" altLang="zh-CN" sz="1400" i="1" dirty="0"/>
              <a:t>):</a:t>
            </a:r>
            <a:r>
              <a:rPr lang="zh-CN" altLang="en-US" sz="1400" i="1" dirty="0"/>
              <a:t> 使用 </a:t>
            </a:r>
            <a:r>
              <a:rPr lang="en-US" altLang="zh-CN" sz="1400" i="1" dirty="0"/>
              <a:t>Paired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State-Action</a:t>
            </a:r>
            <a:r>
              <a:rPr lang="zh-CN" altLang="en-US" sz="1400" i="1" dirty="0"/>
              <a:t> 和 </a:t>
            </a:r>
            <a:r>
              <a:rPr lang="en-US" altLang="zh-CN" sz="1400" i="1" dirty="0" err="1"/>
              <a:t>DAgger</a:t>
            </a:r>
            <a:r>
              <a:rPr lang="zh-CN" altLang="en-US" sz="1400" i="1" dirty="0"/>
              <a:t> 训练 </a:t>
            </a:r>
            <a:r>
              <a:rPr lang="en-US" altLang="zh-CN" sz="1400" i="1" dirty="0"/>
              <a:t>IDM</a:t>
            </a:r>
            <a:endParaRPr lang="zh-CN" altLang="en-US" sz="1400" i="1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375DDCD-EA82-E91E-CC17-9639826429DD}"/>
              </a:ext>
            </a:extLst>
          </p:cNvPr>
          <p:cNvSpPr txBox="1"/>
          <p:nvPr/>
        </p:nvSpPr>
        <p:spPr>
          <a:xfrm>
            <a:off x="7941551" y="806060"/>
            <a:ext cx="15736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i="1" dirty="0"/>
              <a:t>2</a:t>
            </a:r>
            <a:r>
              <a:rPr lang="zh-CN" altLang="en-US" sz="1400" i="1" dirty="0"/>
              <a:t> 分钟的真机轨迹，约</a:t>
            </a:r>
            <a:r>
              <a:rPr lang="en-US" altLang="zh-CN" sz="1400" i="1" dirty="0"/>
              <a:t>6000</a:t>
            </a:r>
            <a:r>
              <a:rPr lang="zh-CN" altLang="en-US" sz="1400" i="1" dirty="0"/>
              <a:t>个时间步</a:t>
            </a:r>
            <a:endParaRPr lang="zh-CN" altLang="en-US" sz="140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A7918A4-CEA3-7403-E921-4A20CF30DFB8}"/>
              </a:ext>
            </a:extLst>
          </p:cNvPr>
          <p:cNvSpPr txBox="1"/>
          <p:nvPr/>
        </p:nvSpPr>
        <p:spPr>
          <a:xfrm>
            <a:off x="4575581" y="5371966"/>
            <a:ext cx="395140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zh-CN" sz="1400" i="1" dirty="0"/>
              <a:t>Low-Rank Adaptation</a:t>
            </a:r>
            <a:r>
              <a:rPr lang="en-US" altLang="zh-CN" sz="1400" i="1" dirty="0"/>
              <a:t>:</a:t>
            </a:r>
            <a:r>
              <a:rPr lang="zh-CN" altLang="en-US" sz="1400" i="1" dirty="0"/>
              <a:t> </a:t>
            </a:r>
            <a:r>
              <a:rPr lang="en-US" altLang="zh-CN" sz="1400" i="1" dirty="0" err="1"/>
              <a:t>W_new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=</a:t>
            </a:r>
            <a:r>
              <a:rPr lang="zh-CN" altLang="en-US" sz="1400" i="1" dirty="0"/>
              <a:t> </a:t>
            </a:r>
            <a:r>
              <a:rPr lang="en-US" altLang="zh-CN" sz="1400" i="1" dirty="0" err="1"/>
              <a:t>W_old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+</a:t>
            </a:r>
            <a:r>
              <a:rPr lang="zh-CN" altLang="en-US" sz="1400" i="1" dirty="0"/>
              <a:t> ∆</a:t>
            </a:r>
            <a:r>
              <a:rPr lang="en-US" altLang="zh-CN" sz="1400" i="1" dirty="0"/>
              <a:t>W</a:t>
            </a:r>
            <a:r>
              <a:rPr lang="zh-CN" altLang="en-US" sz="1400" i="1" dirty="0"/>
              <a:t>，∆</a:t>
            </a:r>
            <a:r>
              <a:rPr lang="en-US" altLang="zh-CN" sz="1400" i="1" dirty="0"/>
              <a:t>W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=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B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x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A</a:t>
            </a:r>
            <a:r>
              <a:rPr lang="zh-CN" altLang="en-US" sz="1400" i="1" dirty="0"/>
              <a:t>，</a:t>
            </a:r>
            <a:r>
              <a:rPr lang="en-US" altLang="zh-CN" sz="1400" i="1" dirty="0"/>
              <a:t>A</a:t>
            </a:r>
            <a:r>
              <a:rPr lang="zh-CN" altLang="en-US" sz="1400" i="1" dirty="0"/>
              <a:t> 维度是 </a:t>
            </a:r>
            <a:r>
              <a:rPr lang="en-US" altLang="zh-CN" sz="1400" i="1" dirty="0"/>
              <a:t>r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x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d</a:t>
            </a:r>
            <a:r>
              <a:rPr lang="zh-CN" altLang="en-US" sz="1400" i="1" dirty="0"/>
              <a:t>，</a:t>
            </a:r>
            <a:r>
              <a:rPr lang="en-US" altLang="zh-CN" sz="1400" i="1" dirty="0"/>
              <a:t>B</a:t>
            </a:r>
            <a:r>
              <a:rPr lang="zh-CN" altLang="en-US" sz="1400" i="1" dirty="0"/>
              <a:t> 维度是 </a:t>
            </a:r>
            <a:r>
              <a:rPr lang="en-US" altLang="zh-CN" sz="1400" i="1" dirty="0"/>
              <a:t>d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x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r</a:t>
            </a:r>
            <a:r>
              <a:rPr lang="zh-CN" altLang="en-US" sz="1400" i="1" dirty="0"/>
              <a:t>，即直接固定原网络，外挂新网络 </a:t>
            </a:r>
            <a:r>
              <a:rPr lang="en-US" altLang="zh-CN" sz="1400" i="1" dirty="0"/>
              <a:t>A</a:t>
            </a:r>
            <a:r>
              <a:rPr lang="zh-CN" altLang="en-US" sz="1400" i="1" dirty="0"/>
              <a:t> 和 </a:t>
            </a:r>
            <a:r>
              <a:rPr lang="en-US" altLang="zh-CN" sz="1400" i="1" dirty="0"/>
              <a:t>B</a:t>
            </a:r>
            <a:r>
              <a:rPr lang="zh-CN" altLang="en-US" sz="1400" i="1" dirty="0"/>
              <a:t>，部署时做 </a:t>
            </a:r>
            <a:r>
              <a:rPr lang="en-US" altLang="zh-CN" sz="1400" i="1" dirty="0" err="1"/>
              <a:t>W_new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=</a:t>
            </a:r>
            <a:r>
              <a:rPr lang="zh-CN" altLang="en-US" sz="1400" i="1" dirty="0"/>
              <a:t> </a:t>
            </a:r>
            <a:r>
              <a:rPr lang="en-US" altLang="zh-CN" sz="1400" i="1" dirty="0" err="1"/>
              <a:t>W_old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+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B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x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A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48A7E54-EEEF-97B1-D916-EF8FA1FF5A1F}"/>
              </a:ext>
            </a:extLst>
          </p:cNvPr>
          <p:cNvSpPr txBox="1"/>
          <p:nvPr/>
        </p:nvSpPr>
        <p:spPr>
          <a:xfrm>
            <a:off x="1893177" y="734084"/>
            <a:ext cx="25967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i="1" dirty="0"/>
              <a:t>使用纯 </a:t>
            </a:r>
            <a:r>
              <a:rPr lang="en-US" altLang="zh-CN" sz="1400" i="1" dirty="0"/>
              <a:t>RL</a:t>
            </a:r>
            <a:r>
              <a:rPr lang="zh-CN" altLang="en-US" sz="1400" i="1" dirty="0"/>
              <a:t> 和 </a:t>
            </a:r>
            <a:r>
              <a:rPr lang="en-US" altLang="zh-CN" sz="1400" i="1" dirty="0"/>
              <a:t>Task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Reward</a:t>
            </a:r>
            <a:r>
              <a:rPr lang="zh-CN" altLang="en-US" sz="1400" i="1" dirty="0"/>
              <a:t> 训练</a:t>
            </a:r>
            <a:r>
              <a:rPr lang="en-US" altLang="zh-CN" sz="1400" i="1" dirty="0"/>
              <a:t>Locomotion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Policy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(</a:t>
            </a:r>
            <a:r>
              <a:rPr lang="zh-CN" altLang="en-US" sz="1400" i="1" dirty="0"/>
              <a:t>速度跟踪</a:t>
            </a:r>
            <a:r>
              <a:rPr lang="en-US" altLang="zh-CN" sz="1400" i="1" dirty="0"/>
              <a:t>)</a:t>
            </a:r>
            <a:endParaRPr lang="zh-CN" altLang="en-US" sz="1400" i="1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D195E6D-F459-DA87-1408-539501BD8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544782"/>
            <a:ext cx="7772400" cy="3768436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718CFC7C-67BB-B151-00FD-8CD67477787E}"/>
              </a:ext>
            </a:extLst>
          </p:cNvPr>
          <p:cNvSpPr txBox="1"/>
          <p:nvPr/>
        </p:nvSpPr>
        <p:spPr>
          <a:xfrm>
            <a:off x="234097" y="5607870"/>
            <a:ext cx="40243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i="1" dirty="0" err="1"/>
              <a:t>State_pred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-&gt;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Tracker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-&gt;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Action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-&gt;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Robot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-&gt;</a:t>
            </a:r>
            <a:r>
              <a:rPr lang="zh-CN" altLang="en-US" sz="1400" i="1" dirty="0"/>
              <a:t> </a:t>
            </a:r>
            <a:r>
              <a:rPr lang="en-US" altLang="zh-CN" sz="1400" i="1" dirty="0" err="1"/>
              <a:t>State_real</a:t>
            </a:r>
            <a:endParaRPr lang="zh-CN" alt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125629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 advClick="0" advTm="0">
        <p14:prism isContent="1"/>
      </p:transition>
    </mc:Choice>
    <mc:Fallback xmlns="">
      <p:transition spd="slow" advClick="0" advTm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7B53D-D73A-C58D-DF21-C1D18BC7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58B657FD-83AA-00D5-C7CD-C59A30A8CF44}"/>
              </a:ext>
            </a:extLst>
          </p:cNvPr>
          <p:cNvSpPr/>
          <p:nvPr/>
        </p:nvSpPr>
        <p:spPr>
          <a:xfrm>
            <a:off x="4672247" y="0"/>
            <a:ext cx="284751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i="1" dirty="0"/>
              <a:t>Planner-IDM</a:t>
            </a:r>
            <a:r>
              <a:rPr lang="zh-CN" altLang="en-US" sz="2000" b="1" i="1" dirty="0"/>
              <a:t> </a:t>
            </a:r>
            <a:r>
              <a:rPr lang="en-US" altLang="zh-CN" sz="2000" b="1" i="1" dirty="0"/>
              <a:t>Interface</a:t>
            </a:r>
            <a:endParaRPr lang="zh-CN" altLang="en-US" sz="2000" b="1" i="1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E7B36BE-79DA-EC33-76B9-32215ED55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857" y="1314232"/>
            <a:ext cx="7720286" cy="4229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662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 advClick="0" advTm="0">
        <p14:prism isContent="1"/>
      </p:transition>
    </mc:Choice>
    <mc:Fallback xmlns="">
      <p:transition spd="slow" advClick="0" advTm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09956-8724-72B1-A839-1898676D0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72CAB35E-E51D-9528-E917-4527A6895335}"/>
              </a:ext>
            </a:extLst>
          </p:cNvPr>
          <p:cNvSpPr/>
          <p:nvPr/>
        </p:nvSpPr>
        <p:spPr>
          <a:xfrm>
            <a:off x="5067032" y="0"/>
            <a:ext cx="205793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i="1" dirty="0"/>
              <a:t>Supervised</a:t>
            </a:r>
            <a:r>
              <a:rPr lang="zh-CN" altLang="en-US" sz="2000" b="1" i="1" dirty="0"/>
              <a:t> </a:t>
            </a:r>
            <a:r>
              <a:rPr lang="en-US" altLang="zh-CN" sz="2000" b="1" i="1" dirty="0"/>
              <a:t>Loss</a:t>
            </a:r>
            <a:endParaRPr lang="zh-CN" altLang="en-US" sz="2000" b="1" i="1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5032C87-CEF7-5671-26B6-2E1F3C0BD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414" y="2822712"/>
            <a:ext cx="7772400" cy="532715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7CFAE47F-910E-4D26-4605-CF90D827EE14}"/>
              </a:ext>
            </a:extLst>
          </p:cNvPr>
          <p:cNvSpPr txBox="1"/>
          <p:nvPr/>
        </p:nvSpPr>
        <p:spPr>
          <a:xfrm>
            <a:off x="6397194" y="3355427"/>
            <a:ext cx="9133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i="1" dirty="0"/>
              <a:t>H</a:t>
            </a:r>
            <a:r>
              <a:rPr lang="zh-CN" altLang="en-US" sz="1400" i="1" dirty="0"/>
              <a:t>步历史自我感知</a:t>
            </a:r>
            <a:endParaRPr lang="en-US" altLang="zh-CN" sz="1400" i="1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E9AF149-CDBD-C9C0-8EDD-382B0BF0BF94}"/>
              </a:ext>
            </a:extLst>
          </p:cNvPr>
          <p:cNvSpPr txBox="1"/>
          <p:nvPr/>
        </p:nvSpPr>
        <p:spPr>
          <a:xfrm>
            <a:off x="7103853" y="2033135"/>
            <a:ext cx="87123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i="1" dirty="0"/>
              <a:t>H</a:t>
            </a:r>
            <a:r>
              <a:rPr lang="zh-CN" altLang="en-US" sz="1400" i="1" dirty="0"/>
              <a:t>步历史动作</a:t>
            </a:r>
            <a:endParaRPr lang="en-US" altLang="zh-CN" sz="1400" i="1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6A482F-F440-57E7-FB14-627867B9311E}"/>
              </a:ext>
            </a:extLst>
          </p:cNvPr>
          <p:cNvSpPr txBox="1"/>
          <p:nvPr/>
        </p:nvSpPr>
        <p:spPr>
          <a:xfrm>
            <a:off x="7539469" y="3393379"/>
            <a:ext cx="12559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i="1" dirty="0"/>
              <a:t>K</a:t>
            </a:r>
            <a:r>
              <a:rPr lang="zh-CN" altLang="en-US" sz="1400" i="1" dirty="0"/>
              <a:t>步被记录的未来真机动作</a:t>
            </a:r>
            <a:endParaRPr lang="en-US" altLang="zh-CN" sz="1400" i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475EF9F-E210-4589-ACBD-C334E8701FBC}"/>
              </a:ext>
            </a:extLst>
          </p:cNvPr>
          <p:cNvSpPr txBox="1"/>
          <p:nvPr/>
        </p:nvSpPr>
        <p:spPr>
          <a:xfrm>
            <a:off x="8795455" y="2166314"/>
            <a:ext cx="12559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i="1" dirty="0"/>
              <a:t>K</a:t>
            </a:r>
            <a:r>
              <a:rPr lang="zh-CN" altLang="en-US" sz="1400" i="1" dirty="0"/>
              <a:t>步被记录的未来真机动作</a:t>
            </a:r>
            <a:endParaRPr lang="en-US" altLang="zh-CN" sz="1400" i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D063AAF-2CA8-15D8-7128-308BCF6736DF}"/>
              </a:ext>
            </a:extLst>
          </p:cNvPr>
          <p:cNvSpPr txBox="1"/>
          <p:nvPr/>
        </p:nvSpPr>
        <p:spPr>
          <a:xfrm>
            <a:off x="2831397" y="2307310"/>
            <a:ext cx="32646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i="1" dirty="0"/>
              <a:t>均方差：</a:t>
            </a:r>
            <a:r>
              <a:rPr lang="en-US" altLang="zh-CN" sz="1400" i="1" dirty="0"/>
              <a:t>||Predicted</a:t>
            </a:r>
            <a:r>
              <a:rPr lang="zh-CN" altLang="en-US" sz="1400" i="1" dirty="0"/>
              <a:t> </a:t>
            </a:r>
            <a:r>
              <a:rPr lang="en-US" altLang="zh-CN" sz="1400" i="1" dirty="0"/>
              <a:t>–</a:t>
            </a:r>
            <a:r>
              <a:rPr lang="zh-CN" altLang="en-US" sz="1400" i="1" dirty="0"/>
              <a:t> </a:t>
            </a:r>
            <a:r>
              <a:rPr lang="en-US" altLang="zh-CN" sz="1400" i="1" dirty="0" err="1"/>
              <a:t>GroundTruth</a:t>
            </a:r>
            <a:r>
              <a:rPr lang="en-US" altLang="zh-CN" sz="1400" i="1" dirty="0"/>
              <a:t>||^2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8F0A556-C34D-BA80-7FAB-7A975C352C72}"/>
              </a:ext>
            </a:extLst>
          </p:cNvPr>
          <p:cNvSpPr txBox="1"/>
          <p:nvPr/>
        </p:nvSpPr>
        <p:spPr>
          <a:xfrm>
            <a:off x="5496306" y="3393379"/>
            <a:ext cx="7864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i="1" dirty="0"/>
              <a:t>只执行第一步</a:t>
            </a:r>
            <a:endParaRPr lang="en-US" altLang="zh-CN" sz="1400" i="1" dirty="0"/>
          </a:p>
        </p:txBody>
      </p:sp>
    </p:spTree>
    <p:extLst>
      <p:ext uri="{BB962C8B-B14F-4D97-AF65-F5344CB8AC3E}">
        <p14:creationId xmlns:p14="http://schemas.microsoft.com/office/powerpoint/2010/main" val="850006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 advClick="0" advTm="0">
        <p14:prism isContent="1"/>
      </p:transition>
    </mc:Choice>
    <mc:Fallback xmlns="">
      <p:transition spd="slow" advClick="0" advTm="0">
        <p:fade/>
      </p:transition>
    </mc:Fallback>
  </mc:AlternateConten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2118</TotalTime>
  <Words>395</Words>
  <Application>Microsoft Macintosh PowerPoint</Application>
  <DocSecurity>0</DocSecurity>
  <PresentationFormat>宽屏</PresentationFormat>
  <Paragraphs>45</Paragraphs>
  <Slides>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8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Yuxuan Cheng</cp:lastModifiedBy>
  <cp:revision>6</cp:revision>
  <dcterms:created xsi:type="dcterms:W3CDTF">2026-08-16T09:06:16Z</dcterms:created>
  <dcterms:modified xsi:type="dcterms:W3CDTF">2026-08-22T18:50:58Z</dcterms:modified>
</cp:coreProperties>
</file>